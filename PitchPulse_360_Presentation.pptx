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1):</a:t>
            </a:r>
          </a:p>
          <a:p/>
          <a:p>
            <a:r>
              <a:t>Good morning respected evaluators. Today we present PitchPulse 360, an enterprise-grade Data Engineering Lakehouse built around Europe’s top 5 domestic leagues across six full seasons. We have engineered this platform strictly in accordance with Mumbai University's Data Engineering curriculum, demonstrating all six Course Outcomes from raw ingestion and ACID storage to vectorized OLAP and dynamic spatial serving.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2):</a:t>
            </a:r>
          </a:p>
          <a:p/>
          <a:p>
            <a:r>
              <a:t>In production sports analytics, the primary bottleneck is rarely visualization; it is the fragility of the data pipeline. When dealing with multi-season CSVs from five different leagues, teams frequently encounter unvalidated nulls, schema drift, and repetitive high-latency full-table scans. PitchPulse 360 replaces ad-hoc scripts with an industrial data engineering lifecycle.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3):</a:t>
            </a:r>
          </a:p>
          <a:p/>
          <a:p>
            <a:r>
              <a:t>Here is our system architecture. We have decoupled compute from storage. Raw data lands in an automated crawler, passes through a strict Great Expectations quality gateway, commits into our Delta Lake Medallion tiers, and is queried on-demand by DuckDB’s vectorized engine. This delivers zero external server overhead while providing enterprise ACID guarantees.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4):</a:t>
            </a:r>
          </a:p>
          <a:p/>
          <a:p>
            <a:r>
              <a:t>Under CO3, we implemented declarative data observability using Great Expectations. Instead of relying on manual try-catch statements, we defined strict expectation suites that validate nullability, domain boundaries, and spatial pitch ranges. Over 10,781 ingested matches, our suite achieved a 100% pass rate, generating a persistent HTML audit artifact.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5):</a:t>
            </a:r>
          </a:p>
          <a:p/>
          <a:p>
            <a:r>
              <a:t>For CO2, we built a Medallion Lakehouse using Delta Lake. Many student projects store unmanaged CSVs, which lack concurrency safety and transaction history. Delta Lake pairs compressed Parquet data with an append-only JSON transaction log. This guarantees atomic commits, supports schema evolution, and allows Time Travel rollbacks across pipeline runs.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6):</a:t>
            </a:r>
          </a:p>
          <a:p/>
          <a:p>
            <a:r>
              <a:t>Addressing CO4, we modeled our Lakehouse into a Kimball Star Schema. Measurable numerical events—such as goals, shots, and referee bookings—reside in our central Fact table, while descriptive attributes like clubs, seasons, and leagues are normalized into conformed dimensions for optimal star-join efficiency.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7):</a:t>
            </a:r>
          </a:p>
          <a:p/>
          <a:p>
            <a:r>
              <a:t>For CO5, we implemented vectorized query processing via DuckDB. Unlike traditional engines that process data one tuple at a time through an interpretation loop, DuckDB utilizes vectorized execution. Operations like window dense rankings and group-bys operate over SIMD-friendly arrays, achieving execution in just 18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8):</a:t>
            </a:r>
          </a:p>
          <a:p/>
          <a:p>
            <a:r>
              <a:t>A key bonus innovation in our project is the spatial telemetry engine. Standard football visualizers use blocky histogram heatmaps. We implemented a continuous bivariate Gaussian Kernel Density Estimator using SciPy. It evaluates spatial actions across a regular coordinate grid, masking out near-zero densities to produce broadcast-grade pitch heatmaps matching Opta and Sofascore.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9):</a:t>
            </a:r>
          </a:p>
          <a:p/>
          <a:p>
            <a:r>
              <a:t>Analyzing 10,781 fixtures provided quantitative answers to classic football debates. We debunked the popular '40-point safety myth'—in the Premier League, 37 points provided 100% safety across all six seasons. We also quantified the stylistic gap between Germany's transition-heavy 3.11 goals per game and Spain's tactical, foul-heavy 2.53 goals per game.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10):</a:t>
            </a:r>
          </a:p>
          <a:p/>
          <a:p>
            <a:r>
              <a:t>Under CO6, we delivered an executive presentation layer. The interface includes an instant Light and Dark mode switcher that synchronizes both the CSS container tokens and the Plotly pitch canvas. In compliance with professional broadcasting guidelines, the UI is completely free of emojis, utilizing vector SVGs and responsive metric cards.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11):</a:t>
            </a:r>
          </a:p>
          <a:p/>
          <a:p>
            <a:r>
              <a:t>To prove the technical efficacy of our Lakehouse, we ran a five-repetition benchmark. Moving from single-threaded CSV scans to four-threaded DuckDB vectorized execution dropped query latency from 421 ms to 18 ms—a measured 22.89x speedup. Furthermore, ZSTD-compressed Delta Lake reduced raw storage footprint by 85.2% while providing ACID guarantees.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NOTES &amp; VIVA TALKING POINTS (SLIDE 12):</a:t>
            </a:r>
          </a:p>
          <a:p/>
          <a:p>
            <a:r>
              <a:t>In conclusion, PitchPulse 360 satisfies all six Course Outcomes of the Data Engineering curriculum. We have pushed our entire codebase, unit tests, automated HTML quality reports, and our 13-page technical publication to GitHub. We are now open for viva questions and evaluator feedback.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1 | Curriculum Alignment: CO1 through CO6</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PitchPulse 360: European Football Intelligence Lakehouse</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An End-to-End Analytical Lakehouse Engineering 10,780+ Matches &amp; 14,500+ Spatial Actions</a:t>
            </a:r>
          </a:p>
        </p:txBody>
      </p:sp>
      <p:pic>
        <p:nvPicPr>
          <p:cNvPr id="6" name="Picture 5" descr="architecture_pipeline.png"/>
          <p:cNvPicPr>
            <a:picLocks noChangeAspect="1"/>
          </p:cNvPicPr>
          <p:nvPr/>
        </p:nvPicPr>
        <p:blipFill>
          <a:blip r:embed="rId2"/>
          <a:stretch>
            <a:fillRect/>
          </a:stretch>
        </p:blipFill>
        <p:spPr>
          <a:xfrm>
            <a:off x="6675120" y="1554480"/>
            <a:ext cx="4754880" cy="1967785"/>
          </a:xfrm>
          <a:prstGeom prst="rect">
            <a:avLst/>
          </a:prstGeom>
        </p:spPr>
      </p:pic>
      <p:sp>
        <p:nvSpPr>
          <p:cNvPr id="7" name="TextBox 6"/>
          <p:cNvSpPr txBox="1"/>
          <p:nvPr/>
        </p:nvSpPr>
        <p:spPr>
          <a:xfrm>
            <a:off x="6675120" y="5669280"/>
            <a:ext cx="4754880" cy="457200"/>
          </a:xfrm>
          <a:prstGeom prst="rect">
            <a:avLst/>
          </a:prstGeom>
          <a:noFill/>
        </p:spPr>
        <p:txBody>
          <a:bodyPr wrap="none">
            <a:spAutoFit/>
          </a:bodyPr>
          <a:lstStyle/>
          <a:p>
            <a:pPr algn="ctr">
              <a:defRPr sz="900" i="1">
                <a:solidFill>
                  <a:srgbClr val="64748B"/>
                </a:solidFill>
              </a:defRPr>
            </a:pPr>
            <a:r>
              <a:t>Figure 1: PitchPulse 360 System Pipeline Flow</a:t>
            </a:r>
          </a:p>
        </p:txBody>
      </p:sp>
      <p:sp>
        <p:nvSpPr>
          <p:cNvPr id="8" name="TextBox 7"/>
          <p:cNvSpPr txBox="1"/>
          <p:nvPr/>
        </p:nvSpPr>
        <p:spPr>
          <a:xfrm>
            <a:off x="731520" y="1554480"/>
            <a:ext cx="5669280" cy="4572000"/>
          </a:xfrm>
          <a:prstGeom prst="rect">
            <a:avLst/>
          </a:prstGeom>
          <a:noFill/>
        </p:spPr>
        <p:txBody>
          <a:bodyPr wrap="square">
            <a:spAutoFit/>
          </a:bodyPr>
          <a:lstStyle/>
          <a:p>
            <a:pPr>
              <a:spcAft>
                <a:spcPts val="800"/>
              </a:spcAft>
              <a:defRPr sz="1200">
                <a:solidFill>
                  <a:srgbClr val="1E293B"/>
                </a:solidFill>
              </a:defRPr>
            </a:pPr>
            <a:r>
              <a:t>•  Department of Artificial Intelligence &amp; Data Science | SIES Graduate School of Technology</a:t>
            </a:r>
          </a:p>
          <a:p>
            <a:pPr>
              <a:spcAft>
                <a:spcPts val="800"/>
              </a:spcAft>
              <a:defRPr sz="1200">
                <a:solidFill>
                  <a:srgbClr val="1E293B"/>
                </a:solidFill>
              </a:defRPr>
            </a:pPr>
            <a:r>
              <a:t>•  Course: Data Engineering (AIDSC502 &amp; AIDSL502) | Semester V Practical Case Study</a:t>
            </a:r>
          </a:p>
          <a:p>
            <a:pPr>
              <a:spcAft>
                <a:spcPts val="800"/>
              </a:spcAft>
              <a:defRPr sz="1200">
                <a:solidFill>
                  <a:srgbClr val="1E293B"/>
                </a:solidFill>
              </a:defRPr>
            </a:pPr>
            <a:r>
              <a:t>•  Student / Group: Aayush &amp; Project Group (AIDSC502-DE-P08 / Practical Batch)</a:t>
            </a:r>
          </a:p>
          <a:p>
            <a:pPr>
              <a:spcAft>
                <a:spcPts val="800"/>
              </a:spcAft>
              <a:defRPr sz="1200">
                <a:solidFill>
                  <a:srgbClr val="1E293B"/>
                </a:solidFill>
              </a:defRPr>
            </a:pPr>
            <a:r>
              <a:t>•  Core Technologies: Delta Lake, DuckDB, Great Expectations, SciPy, Streamlit &amp; Plotly</a:t>
            </a:r>
          </a:p>
          <a:p>
            <a:pPr>
              <a:spcAft>
                <a:spcPts val="800"/>
              </a:spcAft>
              <a:defRPr sz="1200">
                <a:solidFill>
                  <a:srgbClr val="1E293B"/>
                </a:solidFill>
              </a:defRPr>
            </a:pPr>
            <a:r>
              <a:t>•  Temporal Coverage: 6 European Seasons (2018/19 – 2023/24) across 5 Domestic Leagues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2 | Mapped Course Outcome: CO1 (Foundations &amp; Lifecycle)</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The Operational Challenge: Sports Analytics Data Friction</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Data Heterogeneity, Monolithic I/O Bottlenecks &amp; Absence of Contracts</a:t>
            </a:r>
          </a:p>
        </p:txBody>
      </p:sp>
      <p:sp>
        <p:nvSpPr>
          <p:cNvPr id="6" name="TextBox 5"/>
          <p:cNvSpPr txBox="1"/>
          <p:nvPr/>
        </p:nvSpPr>
        <p:spPr>
          <a:xfrm>
            <a:off x="731520" y="1554480"/>
            <a:ext cx="10698480" cy="4572000"/>
          </a:xfrm>
          <a:prstGeom prst="rect">
            <a:avLst/>
          </a:prstGeom>
          <a:noFill/>
        </p:spPr>
        <p:txBody>
          <a:bodyPr wrap="square">
            <a:spAutoFit/>
          </a:bodyPr>
          <a:lstStyle/>
          <a:p>
            <a:pPr>
              <a:spcAft>
                <a:spcPts val="800"/>
              </a:spcAft>
              <a:defRPr sz="1350">
                <a:solidFill>
                  <a:srgbClr val="1E293B"/>
                </a:solidFill>
              </a:defRPr>
            </a:pPr>
            <a:r>
              <a:t>•  Data Heterogeneity &amp; Format Drift: Multi-decade football feeds from England, Spain, Italy, Germany, and France suffer from inconsistent team naming, fragmented column headers, and missing odds.</a:t>
            </a:r>
          </a:p>
          <a:p>
            <a:pPr>
              <a:spcAft>
                <a:spcPts val="800"/>
              </a:spcAft>
              <a:defRPr sz="1350">
                <a:solidFill>
                  <a:srgbClr val="1E293B"/>
                </a:solidFill>
              </a:defRPr>
            </a:pPr>
            <a:r>
              <a:t>•  Inadequacy of Row-Oriented RDBMS: Traditional row-based databases (e.g., SQLite, PostgreSQL) incur massive I/O penalties when scanning millions of numerical columns for multi-year aggregation.</a:t>
            </a:r>
          </a:p>
          <a:p>
            <a:pPr>
              <a:spcAft>
                <a:spcPts val="800"/>
              </a:spcAft>
              <a:defRPr sz="1350">
                <a:solidFill>
                  <a:srgbClr val="1E293B"/>
                </a:solidFill>
              </a:defRPr>
            </a:pPr>
            <a:r>
              <a:t>•  Absence of Schema Contracts: Ad-hoc scripts frequently ingest corrupt match records without validation, leading to silent pipeline failures.</a:t>
            </a:r>
          </a:p>
          <a:p>
            <a:pPr>
              <a:spcAft>
                <a:spcPts val="800"/>
              </a:spcAft>
              <a:defRPr sz="1350">
                <a:solidFill>
                  <a:srgbClr val="1E293B"/>
                </a:solidFill>
              </a:defRPr>
            </a:pPr>
            <a:r>
              <a:t>•  Engineering Objective: Ingest 10,780+ matches (29,142 goals) and 14,500+ spatial events into an immutable, type-safe, sub-second queryable Lakehouse.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3 | Mapped Course Outcomes: CO1 (DE Lifecycle) &amp; CO2 (Lakehouse Architecture)</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Decoupled Lakehouse Architecture &amp; Data Flow</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Decoupled Storage &amp; Compute with 5 Continuous Pipeline Stages</a:t>
            </a:r>
          </a:p>
        </p:txBody>
      </p:sp>
      <p:pic>
        <p:nvPicPr>
          <p:cNvPr id="6" name="Picture 5" descr="architecture_pipeline.png"/>
          <p:cNvPicPr>
            <a:picLocks noChangeAspect="1"/>
          </p:cNvPicPr>
          <p:nvPr/>
        </p:nvPicPr>
        <p:blipFill>
          <a:blip r:embed="rId2"/>
          <a:stretch>
            <a:fillRect/>
          </a:stretch>
        </p:blipFill>
        <p:spPr>
          <a:xfrm>
            <a:off x="6675120" y="1554480"/>
            <a:ext cx="4754880" cy="1967785"/>
          </a:xfrm>
          <a:prstGeom prst="rect">
            <a:avLst/>
          </a:prstGeom>
        </p:spPr>
      </p:pic>
      <p:sp>
        <p:nvSpPr>
          <p:cNvPr id="7" name="TextBox 6"/>
          <p:cNvSpPr txBox="1"/>
          <p:nvPr/>
        </p:nvSpPr>
        <p:spPr>
          <a:xfrm>
            <a:off x="6675120" y="5669280"/>
            <a:ext cx="4754880" cy="457200"/>
          </a:xfrm>
          <a:prstGeom prst="rect">
            <a:avLst/>
          </a:prstGeom>
          <a:noFill/>
        </p:spPr>
        <p:txBody>
          <a:bodyPr wrap="none">
            <a:spAutoFit/>
          </a:bodyPr>
          <a:lstStyle/>
          <a:p>
            <a:pPr algn="ctr">
              <a:defRPr sz="900" i="1">
                <a:solidFill>
                  <a:srgbClr val="64748B"/>
                </a:solidFill>
              </a:defRPr>
            </a:pPr>
            <a:r>
              <a:t>Figure 2: End-to-End Decoupled Medallion Lakehouse Flow</a:t>
            </a:r>
          </a:p>
        </p:txBody>
      </p:sp>
      <p:sp>
        <p:nvSpPr>
          <p:cNvPr id="8" name="TextBox 7"/>
          <p:cNvSpPr txBox="1"/>
          <p:nvPr/>
        </p:nvSpPr>
        <p:spPr>
          <a:xfrm>
            <a:off x="731520" y="1554480"/>
            <a:ext cx="5669280" cy="4572000"/>
          </a:xfrm>
          <a:prstGeom prst="rect">
            <a:avLst/>
          </a:prstGeom>
          <a:noFill/>
        </p:spPr>
        <p:txBody>
          <a:bodyPr wrap="square">
            <a:spAutoFit/>
          </a:bodyPr>
          <a:lstStyle/>
          <a:p>
            <a:pPr>
              <a:spcAft>
                <a:spcPts val="800"/>
              </a:spcAft>
              <a:defRPr sz="1200">
                <a:solidFill>
                  <a:srgbClr val="1E293B"/>
                </a:solidFill>
              </a:defRPr>
            </a:pPr>
            <a:r>
              <a:t>•  Decoupled Compute &amp; Storage: Columnar storage on Delta Lake is cleanly decoupled from in-process vectorized compute (DuckDB).</a:t>
            </a:r>
          </a:p>
          <a:p>
            <a:pPr>
              <a:spcAft>
                <a:spcPts val="800"/>
              </a:spcAft>
              <a:defRPr sz="1200">
                <a:solidFill>
                  <a:srgbClr val="1E293B"/>
                </a:solidFill>
              </a:defRPr>
            </a:pPr>
            <a:r>
              <a:t>•  1. Ingestion: Automated REST crawler extracting 30 league CSV feeds from football-data.co.uk.</a:t>
            </a:r>
          </a:p>
          <a:p>
            <a:pPr>
              <a:spcAft>
                <a:spcPts val="800"/>
              </a:spcAft>
              <a:defRPr sz="1200">
                <a:solidFill>
                  <a:srgbClr val="1E293B"/>
                </a:solidFill>
              </a:defRPr>
            </a:pPr>
            <a:r>
              <a:t>•  2. Validation: Declarative Great Expectations suite auditing schema conformity and domain constraints.</a:t>
            </a:r>
          </a:p>
          <a:p>
            <a:pPr>
              <a:spcAft>
                <a:spcPts val="800"/>
              </a:spcAft>
              <a:defRPr sz="1200">
                <a:solidFill>
                  <a:srgbClr val="1E293B"/>
                </a:solidFill>
              </a:defRPr>
            </a:pPr>
            <a:r>
              <a:t>•  3. Medallion Storage: Partitioned Bronze (raw), Silver (conformed), and Gold (materialized) Delta Lake tables.</a:t>
            </a:r>
          </a:p>
          <a:p>
            <a:pPr>
              <a:spcAft>
                <a:spcPts val="800"/>
              </a:spcAft>
              <a:defRPr sz="1200">
                <a:solidFill>
                  <a:srgbClr val="1E293B"/>
                </a:solidFill>
              </a:defRPr>
            </a:pPr>
            <a:r>
              <a:t>•  4. Vectorized OLAP: In-process multi-threaded DuckDB engine processing analytical window queries.</a:t>
            </a:r>
          </a:p>
          <a:p>
            <a:pPr>
              <a:spcAft>
                <a:spcPts val="800"/>
              </a:spcAft>
              <a:defRPr sz="1200">
                <a:solidFill>
                  <a:srgbClr val="1E293B"/>
                </a:solidFill>
              </a:defRPr>
            </a:pPr>
            <a:r>
              <a:t>•  5. Serving: Streamlit interactive interface with Light/Dark mode and FastAPI data product endpoints.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4 | Mapped Course Outcome: CO3 (Ingestion Workflows &amp; Data Quality Assurance)</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High-Throughput Ingestion &amp; Schema Observability</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Automated Multi-League Crawlers &amp; Declarative Quality Contracts</a:t>
            </a:r>
          </a:p>
        </p:txBody>
      </p:sp>
      <p:sp>
        <p:nvSpPr>
          <p:cNvPr id="6" name="TextBox 5"/>
          <p:cNvSpPr txBox="1"/>
          <p:nvPr/>
        </p:nvSpPr>
        <p:spPr>
          <a:xfrm>
            <a:off x="731520" y="1554480"/>
            <a:ext cx="10698480" cy="4572000"/>
          </a:xfrm>
          <a:prstGeom prst="rect">
            <a:avLst/>
          </a:prstGeom>
          <a:noFill/>
        </p:spPr>
        <p:txBody>
          <a:bodyPr wrap="square">
            <a:spAutoFit/>
          </a:bodyPr>
          <a:lstStyle/>
          <a:p>
            <a:pPr>
              <a:spcAft>
                <a:spcPts val="800"/>
              </a:spcAft>
              <a:defRPr sz="1350">
                <a:solidFill>
                  <a:srgbClr val="1E293B"/>
                </a:solidFill>
              </a:defRPr>
            </a:pPr>
            <a:r>
              <a:t>•  Automated Multi-League Crawler: Standardizes 30 league CSV files into 10,781 uniform match fixture records spanning 2018/19 through 2023/24.</a:t>
            </a:r>
          </a:p>
          <a:p>
            <a:pPr>
              <a:spcAft>
                <a:spcPts val="800"/>
              </a:spcAft>
              <a:defRPr sz="1350">
                <a:solidFill>
                  <a:srgbClr val="1E293B"/>
                </a:solidFill>
              </a:defRPr>
            </a:pPr>
            <a:r>
              <a:t>•  expect_column_values_to_not_be_null: Mandatory for dates, teams, scores, and results.</a:t>
            </a:r>
          </a:p>
          <a:p>
            <a:pPr>
              <a:spcAft>
                <a:spcPts val="800"/>
              </a:spcAft>
              <a:defRPr sz="1350">
                <a:solidFill>
                  <a:srgbClr val="1E293B"/>
                </a:solidFill>
              </a:defRPr>
            </a:pPr>
            <a:r>
              <a:t>•  expect_column_values_to_be_in_set: Restricted result domain strictly to {'H', 'D', 'A'}.</a:t>
            </a:r>
          </a:p>
          <a:p>
            <a:pPr>
              <a:spcAft>
                <a:spcPts val="800"/>
              </a:spcAft>
              <a:defRPr sz="1350">
                <a:solidFill>
                  <a:srgbClr val="1E293B"/>
                </a:solidFill>
              </a:defRPr>
            </a:pPr>
            <a:r>
              <a:t>•  expect_column_values_to_be_between: Bounded goals [0, 15], shots [0, 50], and coordinates [0, 120] x [0, 80].</a:t>
            </a:r>
          </a:p>
          <a:p>
            <a:pPr>
              <a:spcAft>
                <a:spcPts val="800"/>
              </a:spcAft>
              <a:defRPr sz="1350">
                <a:solidFill>
                  <a:srgbClr val="1E293B"/>
                </a:solidFill>
              </a:defRPr>
            </a:pPr>
            <a:r>
              <a:t>•  expect_table_row_count_to_be_between: Minimum threshold &gt;= 10,000 records.</a:t>
            </a:r>
          </a:p>
          <a:p>
            <a:pPr>
              <a:spcAft>
                <a:spcPts val="800"/>
              </a:spcAft>
              <a:defRPr sz="1350">
                <a:solidFill>
                  <a:srgbClr val="1E293B"/>
                </a:solidFill>
              </a:defRPr>
            </a:pPr>
            <a:r>
              <a:t>•  Audit Deliverable: 100% pass rate recorded across all 10,781 records with an auto-generated HTML audit dashboard (data/quality_audit_report.html).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5 | Mapped Course Outcome: CO2 (Storage Systems, Consistency &amp; Lakehouse)</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Medallion Lakehouse &amp; ACID Transaction Protocol</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Bronze, Silver, Gold Tiers with Serialized JSON Transaction Logs</a:t>
            </a:r>
          </a:p>
        </p:txBody>
      </p:sp>
      <p:sp>
        <p:nvSpPr>
          <p:cNvPr id="6" name="TextBox 5"/>
          <p:cNvSpPr txBox="1"/>
          <p:nvPr/>
        </p:nvSpPr>
        <p:spPr>
          <a:xfrm>
            <a:off x="731520" y="1554480"/>
            <a:ext cx="10698480" cy="4572000"/>
          </a:xfrm>
          <a:prstGeom prst="rect">
            <a:avLst/>
          </a:prstGeom>
          <a:noFill/>
        </p:spPr>
        <p:txBody>
          <a:bodyPr wrap="square">
            <a:spAutoFit/>
          </a:bodyPr>
          <a:lstStyle/>
          <a:p>
            <a:pPr>
              <a:spcAft>
                <a:spcPts val="800"/>
              </a:spcAft>
              <a:defRPr sz="1350">
                <a:solidFill>
                  <a:srgbClr val="1E293B"/>
                </a:solidFill>
              </a:defRPr>
            </a:pPr>
            <a:r>
              <a:t>•  Bronze Tier (data/lakehouse/bronze_leagues): Immutable raw parquet data capturing historical source artifacts and ingestion timestamps.</a:t>
            </a:r>
          </a:p>
          <a:p>
            <a:pPr>
              <a:spcAft>
                <a:spcPts val="800"/>
              </a:spcAft>
              <a:defRPr sz="1350">
                <a:solidFill>
                  <a:srgbClr val="1E293B"/>
                </a:solidFill>
              </a:defRPr>
            </a:pPr>
            <a:r>
              <a:t>•  Silver Tier (data/lakehouse/silver_leagues): Conformed, typed, and deduplicated match events partitioned by league_name with goal differentials and points.</a:t>
            </a:r>
          </a:p>
          <a:p>
            <a:pPr>
              <a:spcAft>
                <a:spcPts val="800"/>
              </a:spcAft>
              <a:defRPr sz="1350">
                <a:solidFill>
                  <a:srgbClr val="1E293B"/>
                </a:solidFill>
              </a:defRPr>
            </a:pPr>
            <a:r>
              <a:t>•  Gold Tier (data/lakehouse/gold_standings): Pre-aggregated business tables, final points, goal difference rankings, and survival lines.</a:t>
            </a:r>
          </a:p>
          <a:p>
            <a:pPr>
              <a:spcAft>
                <a:spcPts val="800"/>
              </a:spcAft>
              <a:defRPr sz="1350">
                <a:solidFill>
                  <a:srgbClr val="1E293B"/>
                </a:solidFill>
              </a:defRPr>
            </a:pPr>
            <a:r>
              <a:t>•  ACID Guarantees: Append-only JSON transaction log (_delta_log) guarantees serializability and prevents dirty reads during pipeline crashes.</a:t>
            </a:r>
          </a:p>
          <a:p>
            <a:pPr>
              <a:spcAft>
                <a:spcPts val="800"/>
              </a:spcAft>
              <a:defRPr sz="1350">
                <a:solidFill>
                  <a:srgbClr val="1E293B"/>
                </a:solidFill>
              </a:defRPr>
            </a:pPr>
            <a:r>
              <a:t>•  Delta Time Travel: Audits previous table commits and permits rollbacks to past states without rebuilding.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6 | Mapped Course Outcome: CO4 (Dimensional Modeling &amp; Star Schemas)</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Kimball Star Schema for Football Intelligence</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Separating Measurable Match Facts from Conformed Analytical Dimensions</a:t>
            </a:r>
          </a:p>
        </p:txBody>
      </p:sp>
      <p:pic>
        <p:nvPicPr>
          <p:cNvPr id="6" name="Picture 5" descr="star_schema_diagram.png"/>
          <p:cNvPicPr>
            <a:picLocks noChangeAspect="1"/>
          </p:cNvPicPr>
          <p:nvPr/>
        </p:nvPicPr>
        <p:blipFill>
          <a:blip r:embed="rId2"/>
          <a:stretch>
            <a:fillRect/>
          </a:stretch>
        </p:blipFill>
        <p:spPr>
          <a:xfrm>
            <a:off x="6675120" y="1554480"/>
            <a:ext cx="4754880" cy="2619327"/>
          </a:xfrm>
          <a:prstGeom prst="rect">
            <a:avLst/>
          </a:prstGeom>
        </p:spPr>
      </p:pic>
      <p:sp>
        <p:nvSpPr>
          <p:cNvPr id="7" name="TextBox 6"/>
          <p:cNvSpPr txBox="1"/>
          <p:nvPr/>
        </p:nvSpPr>
        <p:spPr>
          <a:xfrm>
            <a:off x="6675120" y="5669280"/>
            <a:ext cx="4754880" cy="457200"/>
          </a:xfrm>
          <a:prstGeom prst="rect">
            <a:avLst/>
          </a:prstGeom>
          <a:noFill/>
        </p:spPr>
        <p:txBody>
          <a:bodyPr wrap="none">
            <a:spAutoFit/>
          </a:bodyPr>
          <a:lstStyle/>
          <a:p>
            <a:pPr algn="ctr">
              <a:defRPr sz="900" i="1">
                <a:solidFill>
                  <a:srgbClr val="64748B"/>
                </a:solidFill>
              </a:defRPr>
            </a:pPr>
            <a:r>
              <a:t>Figure 3: Kimball Star Schema for Multi-League Analytics</a:t>
            </a:r>
          </a:p>
        </p:txBody>
      </p:sp>
      <p:sp>
        <p:nvSpPr>
          <p:cNvPr id="8" name="TextBox 7"/>
          <p:cNvSpPr txBox="1"/>
          <p:nvPr/>
        </p:nvSpPr>
        <p:spPr>
          <a:xfrm>
            <a:off x="731520" y="1554480"/>
            <a:ext cx="5669280" cy="4572000"/>
          </a:xfrm>
          <a:prstGeom prst="rect">
            <a:avLst/>
          </a:prstGeom>
          <a:noFill/>
        </p:spPr>
        <p:txBody>
          <a:bodyPr wrap="square">
            <a:spAutoFit/>
          </a:bodyPr>
          <a:lstStyle/>
          <a:p>
            <a:pPr>
              <a:spcAft>
                <a:spcPts val="800"/>
              </a:spcAft>
              <a:defRPr sz="1200">
                <a:solidFill>
                  <a:srgbClr val="1E293B"/>
                </a:solidFill>
              </a:defRPr>
            </a:pPr>
            <a:r>
              <a:t>•  Fact Table (Fact_League_Matches): Granular fixture grain (1 row per match) holding degenerate keys, scores (FTHG, FTAG), shots, cards, and referee assignments.</a:t>
            </a:r>
          </a:p>
          <a:p>
            <a:pPr>
              <a:spcAft>
                <a:spcPts val="800"/>
              </a:spcAft>
              <a:defRPr sz="1200">
                <a:solidFill>
                  <a:srgbClr val="1E293B"/>
                </a:solidFill>
              </a:defRPr>
            </a:pPr>
            <a:r>
              <a:t>•  Dim_Teams: 132 unique European clubs with domestic league tags.</a:t>
            </a:r>
          </a:p>
          <a:p>
            <a:pPr>
              <a:spcAft>
                <a:spcPts val="800"/>
              </a:spcAft>
              <a:defRPr sz="1200">
                <a:solidFill>
                  <a:srgbClr val="1E293B"/>
                </a:solidFill>
              </a:defRPr>
            </a:pPr>
            <a:r>
              <a:t>•  Dim_Leagues: 5 top European competitions with country metadata.</a:t>
            </a:r>
          </a:p>
          <a:p>
            <a:pPr>
              <a:spcAft>
                <a:spcPts val="800"/>
              </a:spcAft>
              <a:defRPr sz="1200">
                <a:solidFill>
                  <a:srgbClr val="1E293B"/>
                </a:solidFill>
              </a:defRPr>
            </a:pPr>
            <a:r>
              <a:t>•  Dim_Seasons: 6 temporal cohorts (2018/19 through 2023/24).</a:t>
            </a:r>
          </a:p>
          <a:p>
            <a:pPr>
              <a:spcAft>
                <a:spcPts val="800"/>
              </a:spcAft>
              <a:defRPr sz="1200">
                <a:solidFill>
                  <a:srgbClr val="1E293B"/>
                </a:solidFill>
              </a:defRPr>
            </a:pPr>
            <a:r>
              <a:t>•  Dim_Players: 34 international superstars with tactical roles.</a:t>
            </a:r>
          </a:p>
          <a:p>
            <a:pPr>
              <a:spcAft>
                <a:spcPts val="800"/>
              </a:spcAft>
              <a:defRPr sz="1200">
                <a:solidFill>
                  <a:srgbClr val="1E293B"/>
                </a:solidFill>
              </a:defRPr>
            </a:pPr>
            <a:r>
              <a:t>•  Analytical Benefit: Separates high-cardinality measurable facts from reusable descriptive dimensions, preventing data redundancy.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7 | Mapped Course Outcome: CO5 (Distributed &amp; Vectorized Processing Principles)</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Vectorized Columnar Execution with DuckDB</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SIMD In-Memory Processing &amp; Window Analytics in Sub-20 Milliseconds</a:t>
            </a:r>
          </a:p>
        </p:txBody>
      </p:sp>
      <p:pic>
        <p:nvPicPr>
          <p:cNvPr id="6" name="Picture 5" descr="performance_benchmark.png"/>
          <p:cNvPicPr>
            <a:picLocks noChangeAspect="1"/>
          </p:cNvPicPr>
          <p:nvPr/>
        </p:nvPicPr>
        <p:blipFill>
          <a:blip r:embed="rId2"/>
          <a:stretch>
            <a:fillRect/>
          </a:stretch>
        </p:blipFill>
        <p:spPr>
          <a:xfrm>
            <a:off x="6675120" y="1554480"/>
            <a:ext cx="4754880" cy="2658886"/>
          </a:xfrm>
          <a:prstGeom prst="rect">
            <a:avLst/>
          </a:prstGeom>
        </p:spPr>
      </p:pic>
      <p:sp>
        <p:nvSpPr>
          <p:cNvPr id="7" name="TextBox 6"/>
          <p:cNvSpPr txBox="1"/>
          <p:nvPr/>
        </p:nvSpPr>
        <p:spPr>
          <a:xfrm>
            <a:off x="6675120" y="5669280"/>
            <a:ext cx="4754880" cy="457200"/>
          </a:xfrm>
          <a:prstGeom prst="rect">
            <a:avLst/>
          </a:prstGeom>
          <a:noFill/>
        </p:spPr>
        <p:txBody>
          <a:bodyPr wrap="none">
            <a:spAutoFit/>
          </a:bodyPr>
          <a:lstStyle/>
          <a:p>
            <a:pPr algn="ctr">
              <a:defRPr sz="900" i="1">
                <a:solidFill>
                  <a:srgbClr val="64748B"/>
                </a:solidFill>
              </a:defRPr>
            </a:pPr>
            <a:r>
              <a:t>Figure 4: Query Latency Benchmark across Execution Engines</a:t>
            </a:r>
          </a:p>
        </p:txBody>
      </p:sp>
      <p:sp>
        <p:nvSpPr>
          <p:cNvPr id="8" name="TextBox 7"/>
          <p:cNvSpPr txBox="1"/>
          <p:nvPr/>
        </p:nvSpPr>
        <p:spPr>
          <a:xfrm>
            <a:off x="731520" y="1554480"/>
            <a:ext cx="5669280" cy="4572000"/>
          </a:xfrm>
          <a:prstGeom prst="rect">
            <a:avLst/>
          </a:prstGeom>
          <a:noFill/>
        </p:spPr>
        <p:txBody>
          <a:bodyPr wrap="square">
            <a:spAutoFit/>
          </a:bodyPr>
          <a:lstStyle/>
          <a:p>
            <a:pPr>
              <a:spcAft>
                <a:spcPts val="800"/>
              </a:spcAft>
              <a:defRPr sz="1200">
                <a:solidFill>
                  <a:srgbClr val="1E293B"/>
                </a:solidFill>
              </a:defRPr>
            </a:pPr>
            <a:r>
              <a:t>•  Vectorized Execution Model: DuckDB processes data in memory-aligned columnar vectors (2,048 values per batch), maximizing CPU L1/L2 cache locality.</a:t>
            </a:r>
          </a:p>
          <a:p>
            <a:pPr>
              <a:spcAft>
                <a:spcPts val="800"/>
              </a:spcAft>
              <a:defRPr sz="1200">
                <a:solidFill>
                  <a:srgbClr val="1E293B"/>
                </a:solidFill>
              </a:defRPr>
            </a:pPr>
            <a:r>
              <a:t>•  Window Partitioning: AVG(total_goals) OVER (PARTITION BY league_name, season) benchmarks scoring environments alongside individual matches.</a:t>
            </a:r>
          </a:p>
          <a:p>
            <a:pPr>
              <a:spcAft>
                <a:spcPts val="800"/>
              </a:spcAft>
              <a:defRPr sz="1200">
                <a:solidFill>
                  <a:srgbClr val="1E293B"/>
                </a:solidFill>
              </a:defRPr>
            </a:pPr>
            <a:r>
              <a:t>•  Lag / Lead Offsets: LAG(total_points, 1) OVER (PARTITION BY team ORDER BY season) measures multi-year trajectory.</a:t>
            </a:r>
          </a:p>
          <a:p>
            <a:pPr>
              <a:spcAft>
                <a:spcPts val="800"/>
              </a:spcAft>
              <a:defRPr sz="1200">
                <a:solidFill>
                  <a:srgbClr val="1E293B"/>
                </a:solidFill>
              </a:defRPr>
            </a:pPr>
            <a:r>
              <a:t>•  Dense Ranking: DENSE_RANK() OVER (PARTITION BY season, league_name ORDER BY pts DESC, gd DESC) handles tie-breaks.</a:t>
            </a:r>
          </a:p>
          <a:p>
            <a:pPr>
              <a:spcAft>
                <a:spcPts val="800"/>
              </a:spcAft>
              <a:defRPr sz="1200">
                <a:solidFill>
                  <a:srgbClr val="1E293B"/>
                </a:solidFill>
              </a:defRPr>
            </a:pPr>
            <a:r>
              <a:t>•  Physical Execution Plan (EXPLAIN ANALYZE): Parallel Parquet scan with columnar filter pushdown executing in 18.42 ms across 10,781 rows.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8 | Mapped Course Outcome: CO6 (Serving Layer &amp; Advanced Analytics)</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Spatial Telemetry: Continuous 2D Gaussian KDE Engine</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Eliminating Bounding Box Artifacts with True Spatial Probability Density</a:t>
            </a:r>
          </a:p>
        </p:txBody>
      </p:sp>
      <p:pic>
        <p:nvPicPr>
          <p:cNvPr id="6" name="Picture 5" descr="kde_pitch_heatmap.png"/>
          <p:cNvPicPr>
            <a:picLocks noChangeAspect="1"/>
          </p:cNvPicPr>
          <p:nvPr/>
        </p:nvPicPr>
        <p:blipFill>
          <a:blip r:embed="rId2"/>
          <a:stretch>
            <a:fillRect/>
          </a:stretch>
        </p:blipFill>
        <p:spPr>
          <a:xfrm>
            <a:off x="6675120" y="1554480"/>
            <a:ext cx="4754880" cy="3075415"/>
          </a:xfrm>
          <a:prstGeom prst="rect">
            <a:avLst/>
          </a:prstGeom>
        </p:spPr>
      </p:pic>
      <p:sp>
        <p:nvSpPr>
          <p:cNvPr id="7" name="TextBox 6"/>
          <p:cNvSpPr txBox="1"/>
          <p:nvPr/>
        </p:nvSpPr>
        <p:spPr>
          <a:xfrm>
            <a:off x="6675120" y="5669280"/>
            <a:ext cx="4754880" cy="457200"/>
          </a:xfrm>
          <a:prstGeom prst="rect">
            <a:avLst/>
          </a:prstGeom>
          <a:noFill/>
        </p:spPr>
        <p:txBody>
          <a:bodyPr wrap="none">
            <a:spAutoFit/>
          </a:bodyPr>
          <a:lstStyle/>
          <a:p>
            <a:pPr algn="ctr">
              <a:defRPr sz="900" i="1">
                <a:solidFill>
                  <a:srgbClr val="64748B"/>
                </a:solidFill>
              </a:defRPr>
            </a:pPr>
            <a:r>
              <a:t>Figure 5: Continuous 2D Gaussian KDE Pitch Telemetry</a:t>
            </a:r>
          </a:p>
        </p:txBody>
      </p:sp>
      <p:sp>
        <p:nvSpPr>
          <p:cNvPr id="8" name="TextBox 7"/>
          <p:cNvSpPr txBox="1"/>
          <p:nvPr/>
        </p:nvSpPr>
        <p:spPr>
          <a:xfrm>
            <a:off x="731520" y="1554480"/>
            <a:ext cx="5669280" cy="4572000"/>
          </a:xfrm>
          <a:prstGeom prst="rect">
            <a:avLst/>
          </a:prstGeom>
          <a:noFill/>
        </p:spPr>
        <p:txBody>
          <a:bodyPr wrap="square">
            <a:spAutoFit/>
          </a:bodyPr>
          <a:lstStyle/>
          <a:p>
            <a:pPr>
              <a:spcAft>
                <a:spcPts val="800"/>
              </a:spcAft>
              <a:defRPr sz="1200">
                <a:solidFill>
                  <a:srgbClr val="1E293B"/>
                </a:solidFill>
              </a:defRPr>
            </a:pPr>
            <a:r>
              <a:t>•  Mathematical Formulation: Continuous bivariate Gaussian Kernel Density Estimation over a 120 x 80 meter coordinate space.</a:t>
            </a:r>
          </a:p>
          <a:p>
            <a:pPr>
              <a:spcAft>
                <a:spcPts val="800"/>
              </a:spcAft>
              <a:defRPr sz="1200">
                <a:solidFill>
                  <a:srgbClr val="1E293B"/>
                </a:solidFill>
              </a:defRPr>
            </a:pPr>
            <a:r>
              <a:t>•  Elimination of Grid Artifacts: Replaced blocky histogram binning with smooth probability density contours. Densities below 0.08 threshold are masked (np.nan), revealing clean turf beneath.</a:t>
            </a:r>
          </a:p>
          <a:p>
            <a:pPr>
              <a:spcAft>
                <a:spcPts val="800"/>
              </a:spcAft>
              <a:defRPr sz="1200">
                <a:solidFill>
                  <a:srgbClr val="1E293B"/>
                </a:solidFill>
              </a:defRPr>
            </a:pPr>
            <a:r>
              <a:t>•  Vector Pitch Markings: Layered transparent pitch boundaries, penalty boxes, center circle, and goal nets directly over the heatmap.</a:t>
            </a:r>
          </a:p>
          <a:p>
            <a:pPr>
              <a:spcAft>
                <a:spcPts val="800"/>
              </a:spcAft>
              <a:defRPr sz="1200">
                <a:solidFill>
                  <a:srgbClr val="1E293B"/>
                </a:solidFill>
              </a:defRPr>
            </a:pPr>
            <a:r>
              <a:t>•  Calibrated Tactical Radar: Evaluates superstars across 5 normalized metrics (Finishing, Playmaking, Possession, Dribbling, Pressing) with protected radial padding (l=65, r=65).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9 | Mapped Course Outcome: CO5 (Analytical Querying) &amp; Tactical Findings</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Macro-Tactical Insights Across Europe's Top 5 Leagues</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Pacing Disparities, Debunking the 40-Point Myth &amp; Yo-Yo Club Turbulence</a:t>
            </a:r>
          </a:p>
        </p:txBody>
      </p:sp>
      <p:pic>
        <p:nvPicPr>
          <p:cNvPr id="6" name="Picture 5" descr="league_macro_analytics.png"/>
          <p:cNvPicPr>
            <a:picLocks noChangeAspect="1"/>
          </p:cNvPicPr>
          <p:nvPr/>
        </p:nvPicPr>
        <p:blipFill>
          <a:blip r:embed="rId2"/>
          <a:stretch>
            <a:fillRect/>
          </a:stretch>
        </p:blipFill>
        <p:spPr>
          <a:xfrm>
            <a:off x="6675120" y="1554480"/>
            <a:ext cx="4754880" cy="2179220"/>
          </a:xfrm>
          <a:prstGeom prst="rect">
            <a:avLst/>
          </a:prstGeom>
        </p:spPr>
      </p:pic>
      <p:sp>
        <p:nvSpPr>
          <p:cNvPr id="7" name="TextBox 6"/>
          <p:cNvSpPr txBox="1"/>
          <p:nvPr/>
        </p:nvSpPr>
        <p:spPr>
          <a:xfrm>
            <a:off x="6675120" y="5669280"/>
            <a:ext cx="4754880" cy="457200"/>
          </a:xfrm>
          <a:prstGeom prst="rect">
            <a:avLst/>
          </a:prstGeom>
          <a:noFill/>
        </p:spPr>
        <p:txBody>
          <a:bodyPr wrap="none">
            <a:spAutoFit/>
          </a:bodyPr>
          <a:lstStyle/>
          <a:p>
            <a:pPr algn="ctr">
              <a:defRPr sz="900" i="1">
                <a:solidFill>
                  <a:srgbClr val="64748B"/>
                </a:solidFill>
              </a:defRPr>
            </a:pPr>
            <a:r>
              <a:t>Figure 6: Goals per Match and Outcome Distributions Across Leagues</a:t>
            </a:r>
          </a:p>
        </p:txBody>
      </p:sp>
      <p:sp>
        <p:nvSpPr>
          <p:cNvPr id="8" name="TextBox 7"/>
          <p:cNvSpPr txBox="1"/>
          <p:nvPr/>
        </p:nvSpPr>
        <p:spPr>
          <a:xfrm>
            <a:off x="731520" y="1554480"/>
            <a:ext cx="5669280" cy="4572000"/>
          </a:xfrm>
          <a:prstGeom prst="rect">
            <a:avLst/>
          </a:prstGeom>
          <a:noFill/>
        </p:spPr>
        <p:txBody>
          <a:bodyPr wrap="square">
            <a:spAutoFit/>
          </a:bodyPr>
          <a:lstStyle/>
          <a:p>
            <a:pPr>
              <a:spcAft>
                <a:spcPts val="800"/>
              </a:spcAft>
              <a:defRPr sz="1200">
                <a:solidFill>
                  <a:srgbClr val="1E293B"/>
                </a:solidFill>
              </a:defRPr>
            </a:pPr>
            <a:r>
              <a:t>•  Bundesliga Transition Dominance: Highest goal velocity in Europe (3.11 goals/match) driven by aggressive vertical transition systems; lowest draw rate (23.9%).</a:t>
            </a:r>
          </a:p>
          <a:p>
            <a:pPr>
              <a:spcAft>
                <a:spcPts val="800"/>
              </a:spcAft>
              <a:defRPr sz="1200">
                <a:solidFill>
                  <a:srgbClr val="1E293B"/>
                </a:solidFill>
              </a:defRPr>
            </a:pPr>
            <a:r>
              <a:t>•  La Liga Disciplinary Friction: Highest booking frequency (5.12 yellow cards/match) and lowest goal yield (2.53 goals/match), highlighting game management.</a:t>
            </a:r>
          </a:p>
          <a:p>
            <a:pPr>
              <a:spcAft>
                <a:spcPts val="800"/>
              </a:spcAft>
              <a:defRPr sz="1200">
                <a:solidFill>
                  <a:srgbClr val="1E293B"/>
                </a:solidFill>
              </a:defRPr>
            </a:pPr>
            <a:r>
              <a:t>•  Debunking the '40-Point Survival Myth': Premier League average safety line was 35.8 points (lowest: 34 pts in 2020/21). In the Bundesliga, 31.1 points avoided relegation.</a:t>
            </a:r>
          </a:p>
          <a:p>
            <a:pPr>
              <a:spcAft>
                <a:spcPts val="800"/>
              </a:spcAft>
              <a:defRPr sz="1200">
                <a:solidFill>
                  <a:srgbClr val="1E293B"/>
                </a:solidFill>
              </a:defRPr>
            </a:pPr>
            <a:r>
              <a:t>•  Yo-Yo Clubs: Fulham, Norwich City, and Real Valladolid showed an average first-season survival probability of only 38.2% following promotion.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10 | Mapped Course Outcome: CO6 (Serving Layer, Security &amp; Governance)</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Executive Serving Layer: Dual-Theme Streamlit Dashboard</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Dynamic Light/Dark Token Switcher, Zero Emojis &amp; Security Masking</a:t>
            </a:r>
          </a:p>
        </p:txBody>
      </p:sp>
      <p:pic>
        <p:nvPicPr>
          <p:cNvPr id="6" name="Picture 5" descr="player_radar_chart.png"/>
          <p:cNvPicPr>
            <a:picLocks noChangeAspect="1"/>
          </p:cNvPicPr>
          <p:nvPr/>
        </p:nvPicPr>
        <p:blipFill>
          <a:blip r:embed="rId2"/>
          <a:stretch>
            <a:fillRect/>
          </a:stretch>
        </p:blipFill>
        <p:spPr>
          <a:xfrm>
            <a:off x="6675120" y="1554480"/>
            <a:ext cx="4754880" cy="5195356"/>
          </a:xfrm>
          <a:prstGeom prst="rect">
            <a:avLst/>
          </a:prstGeom>
        </p:spPr>
      </p:pic>
      <p:sp>
        <p:nvSpPr>
          <p:cNvPr id="7" name="TextBox 6"/>
          <p:cNvSpPr txBox="1"/>
          <p:nvPr/>
        </p:nvSpPr>
        <p:spPr>
          <a:xfrm>
            <a:off x="6675120" y="5669280"/>
            <a:ext cx="4754880" cy="457200"/>
          </a:xfrm>
          <a:prstGeom prst="rect">
            <a:avLst/>
          </a:prstGeom>
          <a:noFill/>
        </p:spPr>
        <p:txBody>
          <a:bodyPr wrap="none">
            <a:spAutoFit/>
          </a:bodyPr>
          <a:lstStyle/>
          <a:p>
            <a:pPr algn="ctr">
              <a:defRPr sz="900" i="1">
                <a:solidFill>
                  <a:srgbClr val="64748B"/>
                </a:solidFill>
              </a:defRPr>
            </a:pPr>
            <a:r>
              <a:t>Figure 7: 5-Attribute Tactical Radar Chart for Superstars</a:t>
            </a:r>
          </a:p>
        </p:txBody>
      </p:sp>
      <p:sp>
        <p:nvSpPr>
          <p:cNvPr id="8" name="TextBox 7"/>
          <p:cNvSpPr txBox="1"/>
          <p:nvPr/>
        </p:nvSpPr>
        <p:spPr>
          <a:xfrm>
            <a:off x="731520" y="1554480"/>
            <a:ext cx="5669280" cy="4572000"/>
          </a:xfrm>
          <a:prstGeom prst="rect">
            <a:avLst/>
          </a:prstGeom>
          <a:noFill/>
        </p:spPr>
        <p:txBody>
          <a:bodyPr wrap="square">
            <a:spAutoFit/>
          </a:bodyPr>
          <a:lstStyle/>
          <a:p>
            <a:pPr>
              <a:spcAft>
                <a:spcPts val="800"/>
              </a:spcAft>
              <a:defRPr sz="1200">
                <a:solidFill>
                  <a:srgbClr val="1E293B"/>
                </a:solidFill>
              </a:defRPr>
            </a:pPr>
            <a:r>
              <a:t>•  Dynamic Theme Switcher: Instant sidebar switcher between nocturnal broadcast dark (#070d19 canvas, #00f2fe glowing cyan) and daylight slate (#f8fafc canvas, #0a3a24 emerald turf).</a:t>
            </a:r>
          </a:p>
          <a:p>
            <a:pPr>
              <a:spcAft>
                <a:spcPts val="800"/>
              </a:spcAft>
              <a:defRPr sz="1200">
                <a:solidFill>
                  <a:srgbClr val="1E293B"/>
                </a:solidFill>
              </a:defRPr>
            </a:pPr>
            <a:r>
              <a:t>•  Full DOM Token Synchronization: Synchronizes Streamlit shadow DOM, cards, tabs, and Plotly graph layouts simultaneously.</a:t>
            </a:r>
          </a:p>
          <a:p>
            <a:pPr>
              <a:spcAft>
                <a:spcPts val="800"/>
              </a:spcAft>
              <a:defRPr sz="1200">
                <a:solidFill>
                  <a:srgbClr val="1E293B"/>
                </a:solidFill>
              </a:defRPr>
            </a:pPr>
            <a:r>
              <a:t>•  Zero Emojis &amp; Premium Typography: Built exclusively with Inter and JetBrains Mono typography, responsive CSS grid, and vector SVG accents.</a:t>
            </a:r>
          </a:p>
          <a:p>
            <a:pPr>
              <a:spcAft>
                <a:spcPts val="800"/>
              </a:spcAft>
              <a:defRPr sz="1200">
                <a:solidFill>
                  <a:srgbClr val="1E293B"/>
                </a:solidFill>
              </a:defRPr>
            </a:pPr>
            <a:r>
              <a:t>•  Security &amp; Governance: FastAPI serving tier with Role-Based Access Control (RBAC) and confidential wage bill data masking.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11 | Mapped Course Outcome: CO5 (System Evaluation &amp; Benchmarks)</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Empirical Benchmarks: 22.89x Speedup &amp; 85.2% Compression</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Five-Repetition Benchmark across Storage Formats and Thread Modes</a:t>
            </a:r>
          </a:p>
        </p:txBody>
      </p:sp>
      <p:pic>
        <p:nvPicPr>
          <p:cNvPr id="6" name="Picture 5" descr="performance_benchmark.png"/>
          <p:cNvPicPr>
            <a:picLocks noChangeAspect="1"/>
          </p:cNvPicPr>
          <p:nvPr/>
        </p:nvPicPr>
        <p:blipFill>
          <a:blip r:embed="rId2"/>
          <a:stretch>
            <a:fillRect/>
          </a:stretch>
        </p:blipFill>
        <p:spPr>
          <a:xfrm>
            <a:off x="6675120" y="1554480"/>
            <a:ext cx="4754880" cy="2658886"/>
          </a:xfrm>
          <a:prstGeom prst="rect">
            <a:avLst/>
          </a:prstGeom>
        </p:spPr>
      </p:pic>
      <p:sp>
        <p:nvSpPr>
          <p:cNvPr id="7" name="TextBox 6"/>
          <p:cNvSpPr txBox="1"/>
          <p:nvPr/>
        </p:nvSpPr>
        <p:spPr>
          <a:xfrm>
            <a:off x="6675120" y="5669280"/>
            <a:ext cx="4754880" cy="457200"/>
          </a:xfrm>
          <a:prstGeom prst="rect">
            <a:avLst/>
          </a:prstGeom>
          <a:noFill/>
        </p:spPr>
        <p:txBody>
          <a:bodyPr wrap="none">
            <a:spAutoFit/>
          </a:bodyPr>
          <a:lstStyle/>
          <a:p>
            <a:pPr algn="ctr">
              <a:defRPr sz="900" i="1">
                <a:solidFill>
                  <a:srgbClr val="64748B"/>
                </a:solidFill>
              </a:defRPr>
            </a:pPr>
            <a:r>
              <a:t>Figure 8: Benchmark Latency across Storage and Thread Modes</a:t>
            </a:r>
          </a:p>
        </p:txBody>
      </p:sp>
      <p:sp>
        <p:nvSpPr>
          <p:cNvPr id="8" name="TextBox 7"/>
          <p:cNvSpPr txBox="1"/>
          <p:nvPr/>
        </p:nvSpPr>
        <p:spPr>
          <a:xfrm>
            <a:off x="731520" y="1554480"/>
            <a:ext cx="5669280" cy="4572000"/>
          </a:xfrm>
          <a:prstGeom prst="rect">
            <a:avLst/>
          </a:prstGeom>
          <a:noFill/>
        </p:spPr>
        <p:txBody>
          <a:bodyPr wrap="square">
            <a:spAutoFit/>
          </a:bodyPr>
          <a:lstStyle/>
          <a:p>
            <a:pPr>
              <a:spcAft>
                <a:spcPts val="800"/>
              </a:spcAft>
              <a:defRPr sz="1200">
                <a:solidFill>
                  <a:srgbClr val="1E293B"/>
                </a:solidFill>
              </a:defRPr>
            </a:pPr>
            <a:r>
              <a:t>•  5-Repetition Execution Benchmark (10,781 rows): Raw CSV (1 Thread): 421.65 ms vs Delta Lake (DuckDB 4 Threads): 18.42 ms (22.89x Speedup).</a:t>
            </a:r>
          </a:p>
          <a:p>
            <a:pPr>
              <a:spcAft>
                <a:spcPts val="800"/>
              </a:spcAft>
              <a:defRPr sz="1200">
                <a:solidFill>
                  <a:srgbClr val="1E293B"/>
                </a:solidFill>
              </a:defRPr>
            </a:pPr>
            <a:r>
              <a:t>•  Parquet Multi-Threading: 64.31 ms (1-Th) to 35.12 ms (4-Th) achieving 1.83x thread speedup.</a:t>
            </a:r>
          </a:p>
          <a:p>
            <a:pPr>
              <a:spcAft>
                <a:spcPts val="800"/>
              </a:spcAft>
              <a:defRPr sz="1200">
                <a:solidFill>
                  <a:srgbClr val="1E293B"/>
                </a:solidFill>
              </a:defRPr>
            </a:pPr>
            <a:r>
              <a:t>•  Storage Footprint Reduction: Raw CSV Feeds (14.2 MB) compressed to Delta Lake ZSTD (2.1 MB), achieving an 85.2% reduction with full ACID logging.</a:t>
            </a:r>
          </a:p>
          <a:p>
            <a:pPr>
              <a:spcAft>
                <a:spcPts val="800"/>
              </a:spcAft>
              <a:defRPr sz="1200">
                <a:solidFill>
                  <a:srgbClr val="1E293B"/>
                </a:solidFill>
              </a:defRPr>
            </a:pPr>
            <a:r>
              <a:t>•  Automated Unit Testing: PyTest suite (tests/test_pipeline.py) validates record counts, mathematical point formulas, and query latencies in 0.21 seconds.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284C7"/>
          </a:solidFill>
          <a:ln>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0" y="182880"/>
            <a:ext cx="5212080" cy="457200"/>
          </a:xfrm>
          <a:prstGeom prst="rect">
            <a:avLst/>
          </a:prstGeom>
          <a:noFill/>
        </p:spPr>
        <p:txBody>
          <a:bodyPr wrap="square">
            <a:spAutoFit/>
          </a:bodyPr>
          <a:lstStyle/>
          <a:p>
            <a:pPr algn="r">
              <a:defRPr sz="1000" b="1">
                <a:solidFill>
                  <a:srgbClr val="059669"/>
                </a:solidFill>
              </a:defRPr>
            </a:pPr>
            <a:r>
              <a:t>Slide 12 | Comprehensive Curriculum Alignment: CO1 to CO6</a:t>
            </a:r>
          </a:p>
        </p:txBody>
      </p:sp>
      <p:sp>
        <p:nvSpPr>
          <p:cNvPr id="4" name="TextBox 3"/>
          <p:cNvSpPr txBox="1"/>
          <p:nvPr/>
        </p:nvSpPr>
        <p:spPr>
          <a:xfrm>
            <a:off x="731520" y="365760"/>
            <a:ext cx="10515600" cy="731520"/>
          </a:xfrm>
          <a:prstGeom prst="rect">
            <a:avLst/>
          </a:prstGeom>
          <a:noFill/>
        </p:spPr>
        <p:txBody>
          <a:bodyPr wrap="square">
            <a:spAutoFit/>
          </a:bodyPr>
          <a:lstStyle/>
          <a:p>
            <a:pPr>
              <a:defRPr sz="2200" b="1">
                <a:solidFill>
                  <a:srgbClr val="0F172A"/>
                </a:solidFill>
              </a:defRPr>
            </a:pPr>
            <a:r>
              <a:t>Academic Conclusion &amp; Viva Defense Readiness</a:t>
            </a:r>
          </a:p>
        </p:txBody>
      </p:sp>
      <p:sp>
        <p:nvSpPr>
          <p:cNvPr id="5" name="TextBox 4"/>
          <p:cNvSpPr txBox="1"/>
          <p:nvPr/>
        </p:nvSpPr>
        <p:spPr>
          <a:xfrm>
            <a:off x="731520" y="960120"/>
            <a:ext cx="10515600" cy="457200"/>
          </a:xfrm>
          <a:prstGeom prst="rect">
            <a:avLst/>
          </a:prstGeom>
          <a:noFill/>
        </p:spPr>
        <p:txBody>
          <a:bodyPr wrap="square">
            <a:spAutoFit/>
          </a:bodyPr>
          <a:lstStyle/>
          <a:p>
            <a:pPr>
              <a:defRPr sz="1200" b="1">
                <a:solidFill>
                  <a:srgbClr val="0284C7"/>
                </a:solidFill>
              </a:defRPr>
            </a:pPr>
            <a:r>
              <a:t>100% Course Outcome Fulfillment &amp; Production Artifact Handoff</a:t>
            </a:r>
          </a:p>
        </p:txBody>
      </p:sp>
      <p:pic>
        <p:nvPicPr>
          <p:cNvPr id="6" name="Picture 5" descr="architecture_pipeline.png"/>
          <p:cNvPicPr>
            <a:picLocks noChangeAspect="1"/>
          </p:cNvPicPr>
          <p:nvPr/>
        </p:nvPicPr>
        <p:blipFill>
          <a:blip r:embed="rId2"/>
          <a:stretch>
            <a:fillRect/>
          </a:stretch>
        </p:blipFill>
        <p:spPr>
          <a:xfrm>
            <a:off x="6675120" y="1554480"/>
            <a:ext cx="4754880" cy="1967785"/>
          </a:xfrm>
          <a:prstGeom prst="rect">
            <a:avLst/>
          </a:prstGeom>
        </p:spPr>
      </p:pic>
      <p:sp>
        <p:nvSpPr>
          <p:cNvPr id="7" name="TextBox 6"/>
          <p:cNvSpPr txBox="1"/>
          <p:nvPr/>
        </p:nvSpPr>
        <p:spPr>
          <a:xfrm>
            <a:off x="6675120" y="5669280"/>
            <a:ext cx="4754880" cy="457200"/>
          </a:xfrm>
          <a:prstGeom prst="rect">
            <a:avLst/>
          </a:prstGeom>
          <a:noFill/>
        </p:spPr>
        <p:txBody>
          <a:bodyPr wrap="none">
            <a:spAutoFit/>
          </a:bodyPr>
          <a:lstStyle/>
          <a:p>
            <a:pPr algn="ctr">
              <a:defRPr sz="900" i="1">
                <a:solidFill>
                  <a:srgbClr val="64748B"/>
                </a:solidFill>
              </a:defRPr>
            </a:pPr>
            <a:r>
              <a:t>Figure 9: Complete Pipeline Architecture Handoff</a:t>
            </a:r>
          </a:p>
        </p:txBody>
      </p:sp>
      <p:sp>
        <p:nvSpPr>
          <p:cNvPr id="8" name="TextBox 7"/>
          <p:cNvSpPr txBox="1"/>
          <p:nvPr/>
        </p:nvSpPr>
        <p:spPr>
          <a:xfrm>
            <a:off x="731520" y="1554480"/>
            <a:ext cx="5669280" cy="4572000"/>
          </a:xfrm>
          <a:prstGeom prst="rect">
            <a:avLst/>
          </a:prstGeom>
          <a:noFill/>
        </p:spPr>
        <p:txBody>
          <a:bodyPr wrap="square">
            <a:spAutoFit/>
          </a:bodyPr>
          <a:lstStyle/>
          <a:p>
            <a:pPr>
              <a:spcAft>
                <a:spcPts val="800"/>
              </a:spcAft>
              <a:defRPr sz="1200">
                <a:solidFill>
                  <a:srgbClr val="1E293B"/>
                </a:solidFill>
              </a:defRPr>
            </a:pPr>
            <a:r>
              <a:t>•  CO1: Documented data engineering lifecycle from crawl to UI.</a:t>
            </a:r>
          </a:p>
          <a:p>
            <a:pPr>
              <a:spcAft>
                <a:spcPts val="800"/>
              </a:spcAft>
              <a:defRPr sz="1200">
                <a:solidFill>
                  <a:srgbClr val="1E293B"/>
                </a:solidFill>
              </a:defRPr>
            </a:pPr>
            <a:r>
              <a:t>•  CO2: Delta Lake Medallion architecture with ACID transaction logs.</a:t>
            </a:r>
          </a:p>
          <a:p>
            <a:pPr>
              <a:spcAft>
                <a:spcPts val="800"/>
              </a:spcAft>
              <a:defRPr sz="1200">
                <a:solidFill>
                  <a:srgbClr val="1E293B"/>
                </a:solidFill>
              </a:defRPr>
            </a:pPr>
            <a:r>
              <a:t>•  CO3: Automated REST scraper + Great Expectations HTML audit.</a:t>
            </a:r>
          </a:p>
          <a:p>
            <a:pPr>
              <a:spcAft>
                <a:spcPts val="800"/>
              </a:spcAft>
              <a:defRPr sz="1200">
                <a:solidFill>
                  <a:srgbClr val="1E293B"/>
                </a:solidFill>
              </a:defRPr>
            </a:pPr>
            <a:r>
              <a:t>•  CO4: Star schema dimensional model with conformed fixture grain.</a:t>
            </a:r>
          </a:p>
          <a:p>
            <a:pPr>
              <a:spcAft>
                <a:spcPts val="800"/>
              </a:spcAft>
              <a:defRPr sz="1200">
                <a:solidFill>
                  <a:srgbClr val="1E293B"/>
                </a:solidFill>
              </a:defRPr>
            </a:pPr>
            <a:r>
              <a:t>•  CO5: DuckDB vectorized execution and EXPLAIN query plan analysis.</a:t>
            </a:r>
          </a:p>
          <a:p>
            <a:pPr>
              <a:spcAft>
                <a:spcPts val="800"/>
              </a:spcAft>
              <a:defRPr sz="1200">
                <a:solidFill>
                  <a:srgbClr val="1E293B"/>
                </a:solidFill>
              </a:defRPr>
            </a:pPr>
            <a:r>
              <a:t>•  CO6: Streamlit dual-theme UI, 2D KDE heatmaps, and FastAPI RBAC.</a:t>
            </a:r>
          </a:p>
          <a:p>
            <a:pPr>
              <a:spcAft>
                <a:spcPts val="800"/>
              </a:spcAft>
              <a:defRPr sz="1200">
                <a:solidFill>
                  <a:srgbClr val="1E293B"/>
                </a:solidFill>
              </a:defRPr>
            </a:pPr>
            <a:r>
              <a:t>•  Project Deliverables: 13-page academic PDF report, Markdown report, public GitHub repository, and one-click batch launchers.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